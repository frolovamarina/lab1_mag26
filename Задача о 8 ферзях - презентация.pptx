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0070"/>
    <a:srgbClr val="5200A4"/>
    <a:srgbClr val="6600CC"/>
    <a:srgbClr val="BDB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710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91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71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60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89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00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33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7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98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48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4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DB5F5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C3DB9-7323-4E81-A603-980A3805C54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C0CEA-DC80-425F-8A53-FFF62E4B2D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63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3EE8D6-3F64-4A8C-AF7E-5C323C90D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C4922-20A3-4AE5-ABAE-F450C32CD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556" y="1818649"/>
            <a:ext cx="8794459" cy="1125887"/>
          </a:xfrm>
        </p:spPr>
        <p:txBody>
          <a:bodyPr/>
          <a:lstStyle/>
          <a:p>
            <a:r>
              <a:rPr lang="ru-RU" b="1" dirty="0"/>
              <a:t>Задача о 8 ферзях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B91F9E-2507-4233-87BF-6132F3B2D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1420" y="6375633"/>
            <a:ext cx="3520580" cy="383796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380070"/>
                </a:solidFill>
              </a:rPr>
              <a:t>ИСТмд-11 Фролова М.В.</a:t>
            </a:r>
          </a:p>
        </p:txBody>
      </p:sp>
    </p:spTree>
    <p:extLst>
      <p:ext uri="{BB962C8B-B14F-4D97-AF65-F5344CB8AC3E}">
        <p14:creationId xmlns:p14="http://schemas.microsoft.com/office/powerpoint/2010/main" val="28626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0A13B-DED6-4E84-B917-71ECAB14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520117"/>
            <a:ext cx="10953749" cy="1170571"/>
          </a:xfrm>
        </p:spPr>
        <p:txBody>
          <a:bodyPr>
            <a:normAutofit/>
          </a:bodyPr>
          <a:lstStyle/>
          <a:p>
            <a:r>
              <a:rPr lang="ru-RU" sz="3600" dirty="0"/>
              <a:t>Проблема: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3C6313-4C43-4C2C-BCDD-F3A5CEEF9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1493241"/>
            <a:ext cx="11051796" cy="2348918"/>
          </a:xfrm>
        </p:spPr>
        <p:txBody>
          <a:bodyPr/>
          <a:lstStyle/>
          <a:p>
            <a:r>
              <a:rPr lang="ru-RU" dirty="0"/>
              <a:t>Существует множество алгоритмических подходов к решению задачи о восьми ферзях, отличающихся между собой как по времени выполнения, так и по масштабируемости и полноте нахождения решений. Поиск наиболее эффективного метода для доски размером 8</a:t>
            </a:r>
            <a:r>
              <a:rPr lang="en-US" dirty="0"/>
              <a:t>x</a:t>
            </a:r>
            <a:r>
              <a:rPr lang="ru-RU" dirty="0"/>
              <a:t>8 представляет собой проблему. 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49F6BCB-002A-4689-ABE8-F0DF949C15C0}"/>
              </a:ext>
            </a:extLst>
          </p:cNvPr>
          <p:cNvSpPr txBox="1">
            <a:spLocks/>
          </p:cNvSpPr>
          <p:nvPr/>
        </p:nvSpPr>
        <p:spPr>
          <a:xfrm>
            <a:off x="400048" y="3526282"/>
            <a:ext cx="10953749" cy="1069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Гипотеза</a:t>
            </a:r>
            <a:r>
              <a:rPr lang="ru-RU" sz="4800" dirty="0"/>
              <a:t>: 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3D3EE70-B564-4B2A-8EE1-263E16970C5D}"/>
              </a:ext>
            </a:extLst>
          </p:cNvPr>
          <p:cNvSpPr txBox="1">
            <a:spLocks/>
          </p:cNvSpPr>
          <p:nvPr/>
        </p:nvSpPr>
        <p:spPr>
          <a:xfrm>
            <a:off x="447498" y="4496805"/>
            <a:ext cx="10858850" cy="1923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Для решения задачи о восьми ферзях самым эффективным методом будет являться рекурсивный поиск с возвратом.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15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AFD79-79EA-40BE-A41A-D550BFA2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" y="620785"/>
            <a:ext cx="10800127" cy="1069903"/>
          </a:xfrm>
        </p:spPr>
        <p:txBody>
          <a:bodyPr>
            <a:normAutofit/>
          </a:bodyPr>
          <a:lstStyle/>
          <a:p>
            <a:r>
              <a:rPr lang="ru-RU" sz="3600" dirty="0"/>
              <a:t>План исследования: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9FAE0A-0C41-46D3-A49E-D960EC3B7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50" y="1610686"/>
            <a:ext cx="10858850" cy="456627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1. Выбрать методы для решения задачи.  </a:t>
            </a:r>
          </a:p>
          <a:p>
            <a:pPr marL="0" indent="0">
              <a:buNone/>
            </a:pPr>
            <a:r>
              <a:rPr lang="ru-RU" dirty="0"/>
              <a:t>2. Сравнить эффективность приведённых методов.   </a:t>
            </a:r>
          </a:p>
          <a:p>
            <a:pPr marL="0" indent="0">
              <a:buNone/>
            </a:pPr>
            <a:r>
              <a:rPr lang="ru-RU" dirty="0"/>
              <a:t>3. Сделать выводы по результатам исследования.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67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6131B-98BC-4D0D-8932-7ACEB35B1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6736"/>
            <a:ext cx="10515600" cy="944068"/>
          </a:xfrm>
        </p:spPr>
        <p:txBody>
          <a:bodyPr>
            <a:normAutofit/>
          </a:bodyPr>
          <a:lstStyle/>
          <a:p>
            <a:r>
              <a:rPr lang="ru-RU" sz="3600" dirty="0"/>
              <a:t>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BDE9F-2B05-4E60-9DB3-D6CDAC5F9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804"/>
            <a:ext cx="10515600" cy="4046159"/>
          </a:xfrm>
        </p:spPr>
        <p:txBody>
          <a:bodyPr>
            <a:normAutofit/>
          </a:bodyPr>
          <a:lstStyle/>
          <a:p>
            <a:r>
              <a:rPr lang="ru-RU" dirty="0"/>
              <a:t>1. Рекурсивный поиск с возвратом </a:t>
            </a:r>
          </a:p>
          <a:p>
            <a:r>
              <a:rPr lang="ru-RU" dirty="0"/>
              <a:t>2. Комбинаторный метод </a:t>
            </a:r>
          </a:p>
          <a:p>
            <a:r>
              <a:rPr lang="ru-RU" dirty="0"/>
              <a:t>3. Эвристический метод минимальных конфликтов </a:t>
            </a:r>
          </a:p>
          <a:p>
            <a:r>
              <a:rPr lang="ru-RU" dirty="0"/>
              <a:t>4. </a:t>
            </a:r>
            <a:r>
              <a:rPr lang="ru-RU" dirty="0" err="1"/>
              <a:t>Мультиагентный</a:t>
            </a:r>
            <a:r>
              <a:rPr lang="ru-RU" dirty="0"/>
              <a:t> подход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561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AF293-F55F-4498-B5D2-597649B9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009650"/>
          </a:xfrm>
        </p:spPr>
        <p:txBody>
          <a:bodyPr>
            <a:normAutofit/>
          </a:bodyPr>
          <a:lstStyle/>
          <a:p>
            <a:r>
              <a:rPr lang="ru-RU" sz="3200" dirty="0"/>
              <a:t>1. Рекурсивный поиск с возвратом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4B0A5-1247-4EA7-A170-A7BC6A0A5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Перебирает возможные варианты, возвращаясь назад при нахождении конфликта. Ферзи расставляются построчно. Для каждой строки последовательно перебираются все столбцы, и если соответствующее поле безопасно и успешно проходит проверку по вертикали и диагоналям, в него записывается ферзь. Если ни один столбец для текущей строки не соответствует условиям, алгоритм возвращается к предыдущей строке и выбирает другой столбец. Таким образом рассматриваются все комбинации расстановки ферзей и находятся все 92 решения.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150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2510B-DB14-4B1E-B1F0-E02586513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009652"/>
          </a:xfrm>
        </p:spPr>
        <p:txBody>
          <a:bodyPr>
            <a:normAutofit/>
          </a:bodyPr>
          <a:lstStyle/>
          <a:p>
            <a:r>
              <a:rPr lang="ru-RU" sz="3200" dirty="0"/>
              <a:t>2. Комбинаторный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6D49ED-48F6-4AB8-8B5B-98BFD6F12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6"/>
          </a:xfrm>
        </p:spPr>
        <p:txBody>
          <a:bodyPr/>
          <a:lstStyle/>
          <a:p>
            <a:pPr algn="just"/>
            <a:r>
              <a:rPr lang="ru-RU" dirty="0"/>
              <a:t>Используя библиотеку </a:t>
            </a:r>
            <a:r>
              <a:rPr lang="ru-RU" dirty="0" err="1"/>
              <a:t>itertools</a:t>
            </a:r>
            <a:r>
              <a:rPr lang="ru-RU" dirty="0"/>
              <a:t> и модуль </a:t>
            </a:r>
            <a:r>
              <a:rPr lang="en-US" dirty="0"/>
              <a:t>permutations</a:t>
            </a:r>
            <a:r>
              <a:rPr lang="ru-RU" dirty="0"/>
              <a:t>, генерирует и перебирает все возможные расстановки ферзей, при которых значение строки и столбца уникально. Таким образом, полученные варианты проверяются на факт нахождения того или иного ферзя под боем по диагонали, и в случае, если, конфликта нет, комбинация сохраняется как решение. </a:t>
            </a:r>
          </a:p>
        </p:txBody>
      </p:sp>
    </p:spTree>
    <p:extLst>
      <p:ext uri="{BB962C8B-B14F-4D97-AF65-F5344CB8AC3E}">
        <p14:creationId xmlns:p14="http://schemas.microsoft.com/office/powerpoint/2010/main" val="95488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E5E22-45CB-489A-8B7C-DBC43BEF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620"/>
            <a:ext cx="10515600" cy="944068"/>
          </a:xfrm>
        </p:spPr>
        <p:txBody>
          <a:bodyPr>
            <a:normAutofit/>
          </a:bodyPr>
          <a:lstStyle/>
          <a:p>
            <a:r>
              <a:rPr lang="ru-RU" sz="3200" dirty="0"/>
              <a:t>3. Эвристический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D404C-3586-4141-BE46-4633ABCA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ru-RU" dirty="0"/>
              <a:t>Итеративно улучшает текущую позицию, с каждой итерацией уменьшая количество конфликтов в исходной расстановке. Изначально на доске 8х8 случайным образом по одному в строке и столбце располагаются ферзи. Алгоритм прекращает выполнение, когда находится первое решение, соответствующее условиям. </a:t>
            </a:r>
          </a:p>
        </p:txBody>
      </p:sp>
    </p:spTree>
    <p:extLst>
      <p:ext uri="{BB962C8B-B14F-4D97-AF65-F5344CB8AC3E}">
        <p14:creationId xmlns:p14="http://schemas.microsoft.com/office/powerpoint/2010/main" val="59835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E5E22-45CB-489A-8B7C-DBC43BEF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6620"/>
            <a:ext cx="10515600" cy="944068"/>
          </a:xfrm>
        </p:spPr>
        <p:txBody>
          <a:bodyPr>
            <a:normAutofit/>
          </a:bodyPr>
          <a:lstStyle/>
          <a:p>
            <a:r>
              <a:rPr lang="ru-RU" sz="3200" dirty="0"/>
              <a:t>4. </a:t>
            </a:r>
            <a:r>
              <a:rPr lang="ru-RU" sz="3200" dirty="0" err="1"/>
              <a:t>Мультиагентный</a:t>
            </a:r>
            <a:r>
              <a:rPr lang="ru-RU" sz="3200" dirty="0"/>
              <a:t> подход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3D404C-3586-4141-BE46-4633ABCA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Каждый ферзь рассматривается как отдельный агент. На каждой итерации агенты с конфликтами оценивают количество конфликтов для всех возможных столбцов в своей строке и затем, посредством случайного выбора, перемещаются в один из столбцов с минимальным количеством конфликтов. Решение находится, когда количество конфликтов у каждого агента станет равным нулю. Алгоритм сочетает в себе элементы эвристики и стохастического поиска.  </a:t>
            </a:r>
          </a:p>
        </p:txBody>
      </p:sp>
    </p:spTree>
    <p:extLst>
      <p:ext uri="{BB962C8B-B14F-4D97-AF65-F5344CB8AC3E}">
        <p14:creationId xmlns:p14="http://schemas.microsoft.com/office/powerpoint/2010/main" val="4265577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05766-D40C-4B10-948F-2DC04DC8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Сравнение эффективности рассматриваемых в работе методов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9C05348-358A-4AD7-90E6-28CFEADE5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570524"/>
              </p:ext>
            </p:extLst>
          </p:nvPr>
        </p:nvGraphicFramePr>
        <p:xfrm>
          <a:off x="838200" y="1690688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996735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016824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68447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021566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29081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Рекурсивный поиск с возвратом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Комбинаторный 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Эвристический метод минимальных конфликтов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Мультиагентный</a:t>
                      </a:r>
                      <a:r>
                        <a:rPr lang="ru-RU" dirty="0"/>
                        <a:t> метод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6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ru-RU" sz="1600" dirty="0"/>
                        <a:t>ср</a:t>
                      </a:r>
                      <a:r>
                        <a:rPr lang="ru-RU" dirty="0"/>
                        <a:t> выполнения на доске размером 8х8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753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ru-RU" sz="1600" dirty="0"/>
                        <a:t>ср</a:t>
                      </a:r>
                      <a:r>
                        <a:rPr lang="ru-RU" dirty="0"/>
                        <a:t> выполнения на доске размером 10х10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0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</a:t>
                      </a:r>
                      <a:r>
                        <a:rPr lang="ru-RU" sz="1600" dirty="0"/>
                        <a:t>ср</a:t>
                      </a:r>
                      <a:r>
                        <a:rPr lang="ru-RU" dirty="0"/>
                        <a:t> выполнения на доске размером 16х16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451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Находит все решения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3066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F49BA4-B336-4F60-81C0-CF054F218FF8}"/>
              </a:ext>
            </a:extLst>
          </p:cNvPr>
          <p:cNvSpPr txBox="1"/>
          <p:nvPr/>
        </p:nvSpPr>
        <p:spPr>
          <a:xfrm>
            <a:off x="838200" y="6321207"/>
            <a:ext cx="4395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*«-» = выполнение дольше 0,1с</a:t>
            </a:r>
          </a:p>
        </p:txBody>
      </p:sp>
    </p:spTree>
    <p:extLst>
      <p:ext uri="{BB962C8B-B14F-4D97-AF65-F5344CB8AC3E}">
        <p14:creationId xmlns:p14="http://schemas.microsoft.com/office/powerpoint/2010/main" val="3657923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2276D-82DF-4272-B3BE-8CD00A5B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18E501-FD06-4E2D-A247-D6167CF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39"/>
            <a:ext cx="10515600" cy="475922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Самые оптимальные результаты решения задачи о восьми ферзях показал метод рекурсивного поиска с возвратом, что подтверждает гипотезу. Рекурсия находит все 92 решения задачи, а среднее затраченное время на выполнение гораздо меньше, чем затраченное время комбинаторного метода. Однако с увеличением размерности доски его эффективность будет значительно снижаться. </a:t>
            </a:r>
          </a:p>
          <a:p>
            <a:pPr algn="just"/>
            <a:r>
              <a:rPr lang="ru-RU" dirty="0"/>
              <a:t>Комбинаторный метод плохо справляется при увеличении размерности поиска ввиду резкого роста количества рассматриваемых расстановок, поскольку это количество определяется факториалом количества строк или столбцов доски. </a:t>
            </a:r>
          </a:p>
          <a:p>
            <a:pPr algn="just"/>
            <a:r>
              <a:rPr lang="ru-RU" dirty="0"/>
              <a:t>Самый высокий показатель масштабируемости показали эвристический и </a:t>
            </a:r>
            <a:r>
              <a:rPr lang="ru-RU" dirty="0" err="1"/>
              <a:t>мультиагентный</a:t>
            </a:r>
            <a:r>
              <a:rPr lang="ru-RU" dirty="0"/>
              <a:t> методы. В случае, если требуется нахождение одного решения задачи с большой размерностью, данные алгоритмы будут являться наиболее эффективными.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159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545</Words>
  <Application>Microsoft Office PowerPoint</Application>
  <PresentationFormat>Широкоэкранный</PresentationFormat>
  <Paragraphs>54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Задача о 8 ферзях</vt:lpstr>
      <vt:lpstr>Проблема:</vt:lpstr>
      <vt:lpstr>План исследования: </vt:lpstr>
      <vt:lpstr>Методы</vt:lpstr>
      <vt:lpstr>1. Рекурсивный поиск с возвратом </vt:lpstr>
      <vt:lpstr>2. Комбинаторный метод</vt:lpstr>
      <vt:lpstr>3. Эвристический метод</vt:lpstr>
      <vt:lpstr>4. Мультиагентный подход</vt:lpstr>
      <vt:lpstr>Сравнение эффективности рассматриваемых в работе методов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о 8 ферзях</dc:title>
  <dc:creator>Кв Мисс Дшх Ммм</dc:creator>
  <cp:lastModifiedBy>Кв Мисс Дшх Ммм</cp:lastModifiedBy>
  <cp:revision>9</cp:revision>
  <dcterms:created xsi:type="dcterms:W3CDTF">2026-05-04T20:50:42Z</dcterms:created>
  <dcterms:modified xsi:type="dcterms:W3CDTF">2026-05-04T21:22:23Z</dcterms:modified>
</cp:coreProperties>
</file>